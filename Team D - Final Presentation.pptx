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Roboto Medium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Roboto SemiBold"/>
      <p:regular r:id="rId36"/>
      <p:bold r:id="rId37"/>
      <p:italic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533621-1CFE-47B4-AE8C-D1B72D353488}">
  <a:tblStyle styleId="{9D533621-1CFE-47B4-AE8C-D1B72D3534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RobotoMono-boldItalic.fntdata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edium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boldItalic.fntdata"/><Relationship Id="rId30" Type="http://schemas.openxmlformats.org/officeDocument/2006/relationships/font" Target="fonts/RobotoMedium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9.xml"/><Relationship Id="rId37" Type="http://schemas.openxmlformats.org/officeDocument/2006/relationships/font" Target="fonts/RobotoSemiBold-bold.fntdata"/><Relationship Id="rId14" Type="http://schemas.openxmlformats.org/officeDocument/2006/relationships/slide" Target="slides/slide8.xml"/><Relationship Id="rId36" Type="http://schemas.openxmlformats.org/officeDocument/2006/relationships/font" Target="fonts/Roboto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Roboto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6441341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a6441341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a6441341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a6441341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a6441341b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a6441341b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a6441341b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a6441341b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a6441341b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a6441341b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6441341b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6441341b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6441341b_0_1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a6441341b_0_1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6441341b_0_1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a6441341b_0_1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6441341b_0_1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a6441341b_0_1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a6441341b_0_1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a6441341b_0_1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6441341b_0_1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a6441341b_0_1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a6441341b_0_1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a6441341b_0_1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a6441341b_0_1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a6441341b_0_1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a6441341b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a6441341b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6441341b_0_1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a6441341b_0_1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a6441341b_0_1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a6441341b_0_1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68950" y="727600"/>
            <a:ext cx="86061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5020">
                <a:latin typeface="Montserrat"/>
                <a:ea typeface="Montserrat"/>
                <a:cs typeface="Montserrat"/>
                <a:sym typeface="Montserrat"/>
              </a:rPr>
              <a:t>Honda Car Specification Scraping – Team D</a:t>
            </a:r>
            <a:endParaRPr b="1" sz="50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91800" y="2472725"/>
            <a:ext cx="5097000" cy="24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D9D9D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Mini Project – Evoastra Internship</a:t>
            </a:r>
            <a:endParaRPr sz="2200">
              <a:solidFill>
                <a:srgbClr val="D9D9D9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D9D9D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Website: </a:t>
            </a:r>
            <a:r>
              <a:rPr lang="en-GB" sz="22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AckoDrive.com</a:t>
            </a:r>
            <a:endParaRPr sz="22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D9D9D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Team Lead: </a:t>
            </a:r>
            <a:r>
              <a:rPr lang="en-GB" sz="22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Rakshada Renapurkar</a:t>
            </a:r>
            <a:endParaRPr sz="22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D9D9D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Co-Lead: </a:t>
            </a:r>
            <a:r>
              <a:rPr lang="en-GB" sz="22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Subham Maharana</a:t>
            </a:r>
            <a:endParaRPr sz="22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D9D9D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Date: </a:t>
            </a:r>
            <a:r>
              <a:rPr lang="en-GB" sz="22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GB" sz="2200">
                <a:solidFill>
                  <a:srgbClr val="D9D9D9"/>
                </a:solidFill>
              </a:rPr>
              <a:t>8</a:t>
            </a:r>
            <a:r>
              <a:rPr lang="en-GB" sz="22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 November 2025</a:t>
            </a:r>
            <a:endParaRPr sz="39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488800" y="2472725"/>
            <a:ext cx="3386700" cy="21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Team Members:</a:t>
            </a:r>
            <a:endParaRPr b="1"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Anurag Ojha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K Sai Kiran 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Kota Aravind Kumar Reddy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Rakesh Dabbikar 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Nazim Nazir 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45025"/>
            <a:ext cx="8520600" cy="8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Extract comprehensive variant-level specifications for Honda cars from AckoDrive.com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Key Challenges: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Dynamic JavaScript-rendered content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Multi-page navigation required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Variant-level detail extraction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100% data completeness target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Target: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All Honda models with "Express Delivery" availability in Mumbai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45025"/>
            <a:ext cx="86229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50525"/>
            <a:ext cx="8622900" cy="33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Scraped: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27 Honda car variants across 3 models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Extracted: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8 key specification fields per variant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Achieved: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100% data completeness (0 missing values)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Cleaned: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Professional data pipeline with type conversion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Documented: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Complete notebook, report, and presentation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Models Covered: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Honda City (9 variants)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Honda Elevate (12 variants)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Honda Amaze (6 variants)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65">
                <a:latin typeface="Roboto Medium"/>
                <a:ea typeface="Roboto Medium"/>
                <a:cs typeface="Roboto Medium"/>
                <a:sym typeface="Roboto Medium"/>
              </a:rPr>
            </a:br>
            <a:endParaRPr sz="2065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2065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Parameters Extracted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118125"/>
            <a:ext cx="8520600" cy="3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oboto SemiBold"/>
                <a:ea typeface="Roboto SemiBold"/>
                <a:cs typeface="Roboto SemiBold"/>
                <a:sym typeface="Roboto SemiBold"/>
              </a:rPr>
              <a:t>This project captures the following key specifications: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miBold"/>
              <a:buChar char="●"/>
            </a:pPr>
            <a:r>
              <a:rPr lang="en-GB" sz="1600">
                <a:latin typeface="Roboto SemiBold"/>
                <a:ea typeface="Roboto SemiBold"/>
                <a:cs typeface="Roboto SemiBold"/>
                <a:sym typeface="Roboto SemiBold"/>
              </a:rPr>
              <a:t>Model Name</a:t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miBold"/>
              <a:buChar char="●"/>
            </a:pPr>
            <a:r>
              <a:rPr lang="en-GB" sz="1600">
                <a:latin typeface="Roboto SemiBold"/>
                <a:ea typeface="Roboto SemiBold"/>
                <a:cs typeface="Roboto SemiBold"/>
                <a:sym typeface="Roboto SemiBold"/>
              </a:rPr>
              <a:t>Veriant</a:t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miBold"/>
              <a:buChar char="●"/>
            </a:pPr>
            <a:r>
              <a:rPr lang="en-GB" sz="1600">
                <a:latin typeface="Roboto SemiBold"/>
                <a:ea typeface="Roboto SemiBold"/>
                <a:cs typeface="Roboto SemiBold"/>
                <a:sym typeface="Roboto SemiBold"/>
              </a:rPr>
              <a:t>Price</a:t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miBold"/>
              <a:buChar char="●"/>
            </a:pPr>
            <a:r>
              <a:rPr lang="en-GB" sz="1600">
                <a:latin typeface="Roboto SemiBold"/>
                <a:ea typeface="Roboto SemiBold"/>
                <a:cs typeface="Roboto SemiBold"/>
                <a:sym typeface="Roboto SemiBold"/>
              </a:rPr>
              <a:t>Fuel</a:t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miBold"/>
              <a:buChar char="●"/>
            </a:pPr>
            <a:r>
              <a:rPr lang="en-GB" sz="1600">
                <a:latin typeface="Roboto SemiBold"/>
                <a:ea typeface="Roboto SemiBold"/>
                <a:cs typeface="Roboto SemiBold"/>
                <a:sym typeface="Roboto SemiBold"/>
              </a:rPr>
              <a:t>Engine</a:t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miBold"/>
              <a:buChar char="●"/>
            </a:pPr>
            <a:r>
              <a:rPr lang="en-GB" sz="1600">
                <a:latin typeface="Roboto SemiBold"/>
                <a:ea typeface="Roboto SemiBold"/>
                <a:cs typeface="Roboto SemiBold"/>
                <a:sym typeface="Roboto SemiBold"/>
              </a:rPr>
              <a:t>Seating Capacity</a:t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miBold"/>
              <a:buChar char="●"/>
            </a:pPr>
            <a:r>
              <a:rPr lang="en-GB" sz="1600">
                <a:latin typeface="Roboto SemiBold"/>
                <a:ea typeface="Roboto SemiBold"/>
                <a:cs typeface="Roboto SemiBold"/>
                <a:sym typeface="Roboto SemiBold"/>
              </a:rPr>
              <a:t>Mileage</a:t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 SemiBold"/>
              <a:buChar char="●"/>
            </a:pPr>
            <a:r>
              <a:rPr lang="en-GB" sz="1600">
                <a:latin typeface="Roboto SemiBold"/>
                <a:ea typeface="Roboto SemiBold"/>
                <a:cs typeface="Roboto SemiBold"/>
                <a:sym typeface="Roboto SemiBold"/>
              </a:rPr>
              <a:t>Transmission</a:t>
            </a:r>
            <a:r>
              <a:rPr lang="en-GB" sz="1700"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endParaRPr sz="17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10000"/>
            <a:ext cx="8724900" cy="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Technology Stack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/>
              <a:t>Language: </a:t>
            </a:r>
            <a:r>
              <a:rPr lang="en-GB" sz="2100">
                <a:latin typeface="Roboto Medium"/>
                <a:ea typeface="Roboto Medium"/>
                <a:cs typeface="Roboto Medium"/>
                <a:sym typeface="Roboto Medium"/>
              </a:rPr>
              <a:t>Python</a:t>
            </a:r>
            <a:endParaRPr sz="21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/>
              <a:t>Libraries:</a:t>
            </a:r>
            <a:r>
              <a:rPr lang="en-GB" sz="2100">
                <a:latin typeface="Roboto Medium"/>
                <a:ea typeface="Roboto Medium"/>
                <a:cs typeface="Roboto Medium"/>
                <a:sym typeface="Roboto Medium"/>
              </a:rPr>
              <a:t> BeautifulSoup, </a:t>
            </a:r>
            <a:r>
              <a:rPr lang="en-GB" sz="2100">
                <a:latin typeface="Roboto Medium"/>
                <a:ea typeface="Roboto Medium"/>
                <a:cs typeface="Roboto Medium"/>
                <a:sym typeface="Roboto Medium"/>
              </a:rPr>
              <a:t>Selenium</a:t>
            </a:r>
            <a:r>
              <a:rPr lang="en-GB" sz="2100">
                <a:latin typeface="Roboto Medium"/>
                <a:ea typeface="Roboto Medium"/>
                <a:cs typeface="Roboto Medium"/>
                <a:sym typeface="Roboto Medium"/>
              </a:rPr>
              <a:t>, Requests, re, CSV, Pandas</a:t>
            </a:r>
            <a:endParaRPr sz="21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100"/>
              <a:t>Tools: </a:t>
            </a:r>
            <a:r>
              <a:rPr lang="en-GB" sz="2100">
                <a:latin typeface="Roboto Medium"/>
                <a:ea typeface="Roboto Medium"/>
                <a:cs typeface="Roboto Medium"/>
                <a:sym typeface="Roboto Medium"/>
              </a:rPr>
              <a:t>Google Colab</a:t>
            </a:r>
            <a:endParaRPr sz="2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Why Selenium? (Not Just BeautifulSoup)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GB" sz="1900">
                <a:highlight>
                  <a:schemeClr val="lt1"/>
                </a:highlight>
              </a:rPr>
              <a:t>Sta</a:t>
            </a:r>
            <a:r>
              <a:rPr b="1" lang="en-GB" sz="1900">
                <a:highlight>
                  <a:schemeClr val="lt1"/>
                </a:highlight>
              </a:rPr>
              <a:t>tic HTML Parsing</a:t>
            </a:r>
            <a:r>
              <a:rPr lang="en-GB" sz="1900">
                <a:highlight>
                  <a:schemeClr val="lt1"/>
                </a:highlight>
              </a:rPr>
              <a:t>: BeautifulSoup selected for excellent static parsing capability</a:t>
            </a:r>
            <a:endParaRPr sz="1900">
              <a:highlight>
                <a:schemeClr val="lt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GB" sz="1900">
                <a:highlight>
                  <a:schemeClr val="lt1"/>
                </a:highlight>
              </a:rPr>
              <a:t>Button Clicks:</a:t>
            </a:r>
            <a:r>
              <a:rPr lang="en-GB" sz="1900">
                <a:highlight>
                  <a:schemeClr val="lt1"/>
                </a:highlight>
              </a:rPr>
              <a:t> Selenium chosen for full button interaction capability</a:t>
            </a:r>
            <a:endParaRPr sz="1900">
              <a:highlight>
                <a:schemeClr val="lt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GB" sz="1900">
                <a:highlight>
                  <a:schemeClr val="lt1"/>
                </a:highlight>
              </a:rPr>
              <a:t>JavaScript Execution</a:t>
            </a:r>
            <a:r>
              <a:rPr lang="en-GB" sz="1900">
                <a:highlight>
                  <a:schemeClr val="lt1"/>
                </a:highlight>
              </a:rPr>
              <a:t>: Selenium selected for complete JavaScript support</a:t>
            </a:r>
            <a:endParaRPr sz="1900">
              <a:highlight>
                <a:schemeClr val="lt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GB" sz="1900">
                <a:highlight>
                  <a:schemeClr val="lt1"/>
                </a:highlight>
              </a:rPr>
              <a:t>Page Navigation:</a:t>
            </a:r>
            <a:r>
              <a:rPr lang="en-GB" sz="1900">
                <a:highlight>
                  <a:schemeClr val="lt1"/>
                </a:highlight>
              </a:rPr>
              <a:t> Selenium preferred for robust multi-page navigation</a:t>
            </a:r>
            <a:endParaRPr sz="1900">
              <a:highlight>
                <a:schemeClr val="lt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GB" sz="1900">
                <a:highlight>
                  <a:schemeClr val="lt1"/>
                </a:highlight>
              </a:rPr>
              <a:t>Dynamic Content</a:t>
            </a:r>
            <a:r>
              <a:rPr lang="en-GB" sz="1900">
                <a:highlight>
                  <a:schemeClr val="lt1"/>
                </a:highlight>
              </a:rPr>
              <a:t>: Selenium chosen for full dynamic content capture</a:t>
            </a:r>
            <a:endParaRPr sz="19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Workflow Diagram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Google Shape;123;p19" title="Screenshot 2025-11-28 1850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75" y="1017800"/>
            <a:ext cx="7730723" cy="287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Step-by-Step Scraping Approach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0"/>
              <a:buFont typeface="Roboto Medium"/>
              <a:buAutoNum type="arabicPeriod"/>
            </a:pPr>
            <a: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  <a:t>Access Honda collection page</a:t>
            </a:r>
            <a:b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</a:br>
            <a:endParaRPr sz="159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0"/>
              <a:buFont typeface="Roboto Medium"/>
              <a:buAutoNum type="arabicPeriod"/>
            </a:pPr>
            <a: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  <a:t>Identify &amp; collect all model URLs</a:t>
            </a:r>
            <a:b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</a:br>
            <a:endParaRPr sz="159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0"/>
              <a:buFont typeface="Roboto Medium"/>
              <a:buAutoNum type="arabicPeriod"/>
            </a:pPr>
            <a: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  <a:t>Fetch each model’s specification page</a:t>
            </a:r>
            <a:b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</a:br>
            <a:endParaRPr sz="159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0"/>
              <a:buFont typeface="Roboto Medium"/>
              <a:buAutoNum type="arabicPeriod"/>
            </a:pPr>
            <a: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  <a:t>Extract engine, mileage, seating, fuel, body type</a:t>
            </a:r>
            <a:b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</a:br>
            <a:endParaRPr sz="159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0"/>
              <a:buFont typeface="Roboto Medium"/>
              <a:buAutoNum type="arabicPeriod"/>
            </a:pPr>
            <a: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  <a:t>Clean text &amp; normalize outputs</a:t>
            </a:r>
            <a:b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</a:br>
            <a:endParaRPr sz="159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0"/>
              <a:buFont typeface="Roboto Medium"/>
              <a:buAutoNum type="arabicPeriod"/>
            </a:pPr>
            <a: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  <a:t>Append to master dataset</a:t>
            </a:r>
            <a:b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</a:br>
            <a:endParaRPr sz="159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0"/>
              <a:buFont typeface="Roboto Medium"/>
              <a:buAutoNum type="arabicPeriod"/>
            </a:pPr>
            <a:r>
              <a:rPr lang="en-GB" sz="1590">
                <a:latin typeface="Roboto Medium"/>
                <a:ea typeface="Roboto Medium"/>
                <a:cs typeface="Roboto Medium"/>
                <a:sym typeface="Roboto Medium"/>
              </a:rPr>
              <a:t>Export final CSV </a:t>
            </a:r>
            <a:endParaRPr sz="159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9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Dataset Snapshot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p21" title="Screenshot 2025-11-28 154313.png"/>
          <p:cNvPicPr preferRelativeResize="0"/>
          <p:nvPr/>
        </p:nvPicPr>
        <p:blipFill rotWithShape="1">
          <a:blip r:embed="rId3">
            <a:alphaModFix/>
          </a:blip>
          <a:srcRect b="0" l="-1481" r="685" t="8650"/>
          <a:stretch/>
        </p:blipFill>
        <p:spPr>
          <a:xfrm>
            <a:off x="311700" y="1348387"/>
            <a:ext cx="8235575" cy="24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Data Cleaning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b="1" lang="en-GB" sz="1600">
                <a:highlight>
                  <a:schemeClr val="lt1"/>
                </a:highlight>
              </a:rPr>
              <a:t>Price Cleaning:</a:t>
            </a:r>
            <a:r>
              <a:rPr lang="en-GB" sz="1600">
                <a:highlight>
                  <a:schemeClr val="lt1"/>
                </a:highlight>
              </a:rPr>
              <a:t> Removed ₹ symbol and commas, then converted to numeric float format</a:t>
            </a:r>
            <a:endParaRPr sz="1600">
              <a:highlight>
                <a:schemeClr val="lt1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b="1" lang="en-GB" sz="1600">
                <a:highlight>
                  <a:schemeClr val="lt1"/>
                </a:highlight>
              </a:rPr>
              <a:t>Engine Capacity:</a:t>
            </a:r>
            <a:r>
              <a:rPr lang="en-GB" sz="1600">
                <a:highlight>
                  <a:schemeClr val="lt1"/>
                </a:highlight>
              </a:rPr>
              <a:t> Eliminated "cc" suffix, stripped spaces, and converted to integer values</a:t>
            </a:r>
            <a:endParaRPr sz="1600">
              <a:highlight>
                <a:schemeClr val="lt1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b="1" lang="en-GB" sz="1600">
                <a:highlight>
                  <a:schemeClr val="lt1"/>
                </a:highlight>
              </a:rPr>
              <a:t>Mileage Data: </a:t>
            </a:r>
            <a:r>
              <a:rPr lang="en-GB" sz="1600">
                <a:highlight>
                  <a:schemeClr val="lt1"/>
                </a:highlight>
              </a:rPr>
              <a:t>Removed "kmpl" units and converted to floating-point numbers</a:t>
            </a:r>
            <a:endParaRPr sz="1600">
              <a:highlight>
                <a:schemeClr val="lt1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b="1" lang="en-GB" sz="1600">
                <a:highlight>
                  <a:schemeClr val="lt1"/>
                </a:highlight>
              </a:rPr>
              <a:t>Seating Capacity:</a:t>
            </a:r>
            <a:r>
              <a:rPr lang="en-GB" sz="1600">
                <a:highlight>
                  <a:schemeClr val="lt1"/>
                </a:highlight>
              </a:rPr>
              <a:t> Stripped "seater" text and converted to integer format</a:t>
            </a:r>
            <a:endParaRPr sz="1600">
              <a:highlight>
                <a:schemeClr val="lt1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b="1" lang="en-GB" sz="1600">
                <a:highlight>
                  <a:schemeClr val="lt1"/>
                </a:highlight>
              </a:rPr>
              <a:t>Text Fields:</a:t>
            </a:r>
            <a:r>
              <a:rPr lang="en-GB" sz="1600">
                <a:highlight>
                  <a:schemeClr val="lt1"/>
                </a:highlight>
              </a:rPr>
              <a:t> Applied whitespace stripping to all string columns for consistency</a:t>
            </a:r>
            <a:endParaRPr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highlight>
                  <a:schemeClr val="lt1"/>
                </a:highlight>
              </a:rPr>
              <a:t>Result:</a:t>
            </a:r>
            <a:r>
              <a:rPr lang="en-GB" sz="1600">
                <a:highlight>
                  <a:schemeClr val="lt1"/>
                </a:highlight>
              </a:rPr>
              <a:t> Transformed raw scraped data into analysis-ready numeric formats while maintaining data integrity.</a:t>
            </a:r>
            <a:endParaRPr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highlight>
                <a:schemeClr val="lt1"/>
              </a:highlight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ey Insights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highlight>
                  <a:schemeClr val="lt1"/>
                </a:highlight>
              </a:rPr>
              <a:t>Mileage Leaders:</a:t>
            </a:r>
            <a:endParaRPr b="1"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chemeClr val="lt1"/>
                </a:highlight>
              </a:rPr>
              <a:t>Overall: Honda City eHEV (27.0 kmpl)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chemeClr val="lt1"/>
                </a:highlight>
              </a:rPr>
              <a:t>Petrol Sedan: Honda City Manual (17.0 kmpl)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chemeClr val="lt1"/>
                </a:highlight>
              </a:rPr>
              <a:t>Petrol Automatic: Honda City CVT (18.0 kmpl)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chemeClr val="lt1"/>
                </a:highlight>
              </a:rPr>
              <a:t>Compact Sedan: Honda Amaze CVT (19.0 kmpl)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chemeClr val="lt1"/>
                </a:highlight>
              </a:rPr>
              <a:t>SUV: Honda Elevate Manual (15.0 kmpl)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highlight>
                  <a:schemeClr val="lt1"/>
                </a:highlight>
              </a:rPr>
              <a:t>Transmission Efficiency:</a:t>
            </a:r>
            <a:endParaRPr b="1"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chemeClr val="lt1"/>
                </a:highlight>
              </a:rPr>
              <a:t>Manual Average: 16.5 kmpl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chemeClr val="lt1"/>
                </a:highlight>
              </a:rPr>
              <a:t>Automatic Average: 17.5 kmpl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chemeClr val="lt1"/>
                </a:highlight>
              </a:rPr>
              <a:t>Insight: CVT automatics deliver better fuel efficiency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168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2839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Challenges Faced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1700" y="891725"/>
            <a:ext cx="8520600" cy="3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highlight>
                  <a:srgbClr val="FAF9F5"/>
                </a:highlight>
              </a:rPr>
              <a:t>Technical Challenges:</a:t>
            </a:r>
            <a:endParaRPr b="1" sz="1600">
              <a:highlight>
                <a:srgbClr val="FAF9F5"/>
              </a:highlight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rgbClr val="FAF9F5"/>
                </a:highlight>
              </a:rPr>
              <a:t>Stale element references (High frequency)</a:t>
            </a:r>
            <a:endParaRPr sz="1500">
              <a:highlight>
                <a:srgbClr val="FAF9F5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rgbClr val="FAF9F5"/>
                </a:highlight>
              </a:rPr>
              <a:t>Dynamic content loading delays (Medium)</a:t>
            </a:r>
            <a:endParaRPr sz="1500">
              <a:highlight>
                <a:srgbClr val="FAF9F5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rgbClr val="FAF9F5"/>
                </a:highlight>
              </a:rPr>
              <a:t>Discontinued variant filtering (Medium)</a:t>
            </a:r>
            <a:endParaRPr sz="1500">
              <a:highlight>
                <a:srgbClr val="FAF9F5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rgbClr val="FAF9F5"/>
                </a:highlight>
              </a:rPr>
              <a:t>Variable page load times (Low)</a:t>
            </a:r>
            <a:endParaRPr sz="1500">
              <a:highlight>
                <a:srgbClr val="FAF9F5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highlight>
                  <a:srgbClr val="FAF9F5"/>
                </a:highlight>
              </a:rPr>
              <a:t>Data Quality Challenges:</a:t>
            </a:r>
            <a:endParaRPr b="1" sz="1600">
              <a:highlight>
                <a:srgbClr val="FAF9F5"/>
              </a:highlight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rgbClr val="FAF9F5"/>
                </a:highlight>
              </a:rPr>
              <a:t>Inconsistent text formatting</a:t>
            </a:r>
            <a:endParaRPr sz="1500">
              <a:highlight>
                <a:srgbClr val="FAF9F5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rgbClr val="FAF9F5"/>
                </a:highlight>
              </a:rPr>
              <a:t>Mixed data types (all strings)</a:t>
            </a:r>
            <a:endParaRPr sz="1500">
              <a:highlight>
                <a:srgbClr val="FAF9F5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rgbClr val="FAF9F5"/>
                </a:highlight>
              </a:rPr>
              <a:t>Currency symbols in numeric fields</a:t>
            </a:r>
            <a:endParaRPr sz="1500">
              <a:highlight>
                <a:srgbClr val="FAF9F5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highlight>
                  <a:srgbClr val="FAF9F5"/>
                </a:highlight>
              </a:rPr>
              <a:t>Unit suffixes requiring removal</a:t>
            </a:r>
            <a:endParaRPr sz="1500">
              <a:highlight>
                <a:srgbClr val="FAF9F5"/>
              </a:highlight>
            </a:endParaRPr>
          </a:p>
          <a:p>
            <a:pPr indent="0" lvl="0" marL="45720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highlight>
                <a:srgbClr val="151517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1718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Solutions Implemented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81750" y="706150"/>
            <a:ext cx="8520600" cy="3571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highlight>
                  <a:srgbClr val="FAF9F5"/>
                </a:highlight>
              </a:rPr>
              <a:t>Technical Solutions:</a:t>
            </a:r>
            <a:endParaRPr b="1"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Re-fetch elements after each navigation</a:t>
            </a:r>
            <a:endParaRPr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Strategic 2-4 second waits after clicks</a:t>
            </a:r>
            <a:endParaRPr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Detect .</a:t>
            </a:r>
            <a:r>
              <a:rPr lang="en-GB" sz="1300">
                <a:highlight>
                  <a:srgbClr val="FAF9F5"/>
                </a:highlight>
              </a:rPr>
              <a:t>discontinued Badge</a:t>
            </a:r>
            <a:r>
              <a:rPr lang="en-GB" sz="1300">
                <a:highlight>
                  <a:srgbClr val="FAF9F5"/>
                </a:highlight>
              </a:rPr>
              <a:t> class to skip cars</a:t>
            </a:r>
            <a:endParaRPr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Try-except blocks for each specification</a:t>
            </a:r>
            <a:endParaRPr sz="1300">
              <a:highlight>
                <a:srgbClr val="FAF9F5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highlight>
                  <a:srgbClr val="FAF9F5"/>
                </a:highlight>
              </a:rPr>
              <a:t>Code Quality Solutions:</a:t>
            </a:r>
            <a:endParaRPr b="1"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Comprehensive exception management</a:t>
            </a:r>
            <a:endParaRPr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Progress tracking and debugging logs</a:t>
            </a:r>
            <a:endParaRPr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Set-based unique variant tracking</a:t>
            </a:r>
            <a:endParaRPr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WebDriver cleanup in finally blocks</a:t>
            </a:r>
            <a:endParaRPr sz="1300">
              <a:highlight>
                <a:srgbClr val="FAF9F5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highlight>
                  <a:srgbClr val="FAF9F5"/>
                </a:highlight>
              </a:rPr>
              <a:t>Data Quality Solutions:</a:t>
            </a:r>
            <a:endParaRPr b="1"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Systematic symbol removal with regex</a:t>
            </a:r>
            <a:endParaRPr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Explicit type conversion declarations</a:t>
            </a:r>
            <a:endParaRPr sz="1300">
              <a:highlight>
                <a:srgbClr val="FAF9F5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highlight>
                  <a:srgbClr val="FAF9F5"/>
                </a:highlight>
              </a:rPr>
              <a:t>Null and duplicate validation </a:t>
            </a:r>
            <a:r>
              <a:rPr lang="en-GB" sz="1300">
                <a:highlight>
                  <a:srgbClr val="FAF9F5"/>
                </a:highlight>
              </a:rPr>
              <a:t>checks</a:t>
            </a:r>
            <a:endParaRPr sz="1300">
              <a:highlight>
                <a:srgbClr val="FAF9F5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Final Deliverables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252150" y="1075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en-GB" sz="1602">
                <a:latin typeface="Arial"/>
                <a:ea typeface="Arial"/>
                <a:cs typeface="Arial"/>
                <a:sym typeface="Arial"/>
              </a:rPr>
              <a:t>Code Artifacts</a:t>
            </a:r>
            <a:endParaRPr b="1" sz="1602">
              <a:latin typeface="Arial"/>
              <a:ea typeface="Arial"/>
              <a:cs typeface="Arial"/>
              <a:sym typeface="Arial"/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18"/>
              <a:buFont typeface="Arial"/>
              <a:buChar char="●"/>
            </a:pPr>
            <a:r>
              <a:rPr lang="en-GB" sz="14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Honda_Car_Web_Scraping.ipynb</a:t>
            </a:r>
            <a:r>
              <a:rPr lang="en-GB" sz="1417">
                <a:latin typeface="Arial"/>
                <a:ea typeface="Arial"/>
                <a:cs typeface="Arial"/>
                <a:sym typeface="Arial"/>
              </a:rPr>
              <a:t> - Fully documented notebook</a:t>
            </a:r>
            <a:endParaRPr sz="1417">
              <a:latin typeface="Arial"/>
              <a:ea typeface="Arial"/>
              <a:cs typeface="Arial"/>
              <a:sym typeface="Arial"/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18"/>
              <a:buFont typeface="Arial"/>
              <a:buChar char="●"/>
            </a:pPr>
            <a:r>
              <a:rPr lang="en-GB" sz="1417">
                <a:latin typeface="Arial"/>
                <a:ea typeface="Arial"/>
                <a:cs typeface="Arial"/>
                <a:sym typeface="Arial"/>
              </a:rPr>
              <a:t>Well-commented Python code with markdown explanations</a:t>
            </a:r>
            <a:endParaRPr sz="1417">
              <a:latin typeface="Arial"/>
              <a:ea typeface="Arial"/>
              <a:cs typeface="Arial"/>
              <a:sym typeface="Arial"/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18"/>
              <a:buFont typeface="Arial"/>
              <a:buChar char="●"/>
            </a:pPr>
            <a:r>
              <a:rPr lang="en-GB" sz="1417">
                <a:latin typeface="Arial"/>
                <a:ea typeface="Arial"/>
                <a:cs typeface="Arial"/>
                <a:sym typeface="Arial"/>
              </a:rPr>
              <a:t>Executable from top to bottom</a:t>
            </a:r>
            <a:endParaRPr sz="141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en-GB" sz="1602">
                <a:latin typeface="Arial"/>
                <a:ea typeface="Arial"/>
                <a:cs typeface="Arial"/>
                <a:sym typeface="Arial"/>
              </a:rPr>
              <a:t>Data Files</a:t>
            </a:r>
            <a:endParaRPr b="1" sz="1602">
              <a:latin typeface="Arial"/>
              <a:ea typeface="Arial"/>
              <a:cs typeface="Arial"/>
              <a:sym typeface="Arial"/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18"/>
              <a:buFont typeface="Arial"/>
              <a:buChar char="●"/>
            </a:pPr>
            <a:r>
              <a:rPr lang="en-GB" sz="14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car_variants.csv</a:t>
            </a:r>
            <a:r>
              <a:rPr lang="en-GB" sz="14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GB" sz="1417">
                <a:latin typeface="Arial"/>
                <a:ea typeface="Arial"/>
                <a:cs typeface="Arial"/>
                <a:sym typeface="Arial"/>
              </a:rPr>
              <a:t>Raw scraped data (27 rows × 8 columns)</a:t>
            </a:r>
            <a:endParaRPr sz="1417">
              <a:latin typeface="Arial"/>
              <a:ea typeface="Arial"/>
              <a:cs typeface="Arial"/>
              <a:sym typeface="Arial"/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8"/>
              <a:buFont typeface="Arial"/>
              <a:buChar char="●"/>
            </a:pPr>
            <a:r>
              <a:rPr lang="en-GB" sz="141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honda_cleaned_data.csv</a:t>
            </a:r>
            <a:r>
              <a:rPr lang="en-GB" sz="14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GB" sz="1417">
                <a:latin typeface="Arial"/>
                <a:ea typeface="Arial"/>
                <a:cs typeface="Arial"/>
                <a:sym typeface="Arial"/>
              </a:rPr>
              <a:t>Production-ready dataset</a:t>
            </a:r>
            <a:endParaRPr sz="141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en-GB" sz="1602">
                <a:latin typeface="Arial"/>
                <a:ea typeface="Arial"/>
                <a:cs typeface="Arial"/>
                <a:sym typeface="Arial"/>
              </a:rPr>
              <a:t>Documentation</a:t>
            </a:r>
            <a:endParaRPr b="1" sz="1602">
              <a:latin typeface="Arial"/>
              <a:ea typeface="Arial"/>
              <a:cs typeface="Arial"/>
              <a:sym typeface="Arial"/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18"/>
              <a:buFont typeface="Arial"/>
              <a:buChar char="●"/>
            </a:pPr>
            <a:r>
              <a:rPr b="1" lang="en-GB" sz="1417">
                <a:latin typeface="Arial"/>
                <a:ea typeface="Arial"/>
                <a:cs typeface="Arial"/>
                <a:sym typeface="Arial"/>
              </a:rPr>
              <a:t>Project Report</a:t>
            </a:r>
            <a:r>
              <a:rPr lang="en-GB" sz="1417">
                <a:latin typeface="Arial"/>
                <a:ea typeface="Arial"/>
                <a:cs typeface="Arial"/>
                <a:sym typeface="Arial"/>
              </a:rPr>
              <a:t> - 36-page comprehensive technical document</a:t>
            </a:r>
            <a:endParaRPr sz="1417">
              <a:latin typeface="Arial"/>
              <a:ea typeface="Arial"/>
              <a:cs typeface="Arial"/>
              <a:sym typeface="Arial"/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18"/>
              <a:buFont typeface="Arial"/>
              <a:buChar char="●"/>
            </a:pPr>
            <a:r>
              <a:rPr b="1" lang="en-GB" sz="1417">
                <a:latin typeface="Arial"/>
                <a:ea typeface="Arial"/>
                <a:cs typeface="Arial"/>
                <a:sym typeface="Arial"/>
              </a:rPr>
              <a:t>Presentation</a:t>
            </a:r>
            <a:r>
              <a:rPr lang="en-GB" sz="1417">
                <a:latin typeface="Arial"/>
                <a:ea typeface="Arial"/>
                <a:cs typeface="Arial"/>
                <a:sym typeface="Arial"/>
              </a:rPr>
              <a:t> - Professional slide deck (PDF)</a:t>
            </a:r>
            <a:endParaRPr sz="1417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2312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Team Structure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71" name="Google Shape;171;p27"/>
          <p:cNvGraphicFramePr/>
          <p:nvPr/>
        </p:nvGraphicFramePr>
        <p:xfrm>
          <a:off x="393975" y="1246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{9D533621-1CFE-47B4-AE8C-D1B72D353488}</a:tableStyleId>
              </a:tblPr>
              <a:tblGrid>
                <a:gridCol w="2785350"/>
                <a:gridCol w="2785350"/>
                <a:gridCol w="2785350"/>
              </a:tblGrid>
              <a:tr h="1610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Team Lead – Rakshada Renapurkar</a:t>
                      </a:r>
                      <a:endParaRPr b="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Planning, coordination, documentation</a:t>
                      </a:r>
                      <a:endParaRPr sz="1200">
                        <a:solidFill>
                          <a:schemeClr val="dk2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Web Scraping Team:</a:t>
                      </a:r>
                      <a:endParaRPr b="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Roboto Medium"/>
                        <a:buChar char="●"/>
                      </a:pPr>
                      <a:r>
                        <a:rPr lang="en-GB" sz="12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Anurag</a:t>
                      </a:r>
                      <a:endParaRPr sz="1200">
                        <a:solidFill>
                          <a:schemeClr val="dk2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Roboto Medium"/>
                        <a:buChar char="●"/>
                      </a:pPr>
                      <a:r>
                        <a:rPr lang="en-GB" sz="12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Nazim</a:t>
                      </a:r>
                      <a:endParaRPr sz="1200">
                        <a:solidFill>
                          <a:schemeClr val="dk2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Roboto Medium"/>
                        <a:buChar char="●"/>
                      </a:pPr>
                      <a:r>
                        <a:rPr lang="en-GB" sz="12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Aravind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Report Team:</a:t>
                      </a:r>
                      <a:endParaRPr b="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Roboto Medium"/>
                        <a:buChar char="●"/>
                      </a:pPr>
                      <a:r>
                        <a:rPr lang="en-GB" sz="12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Subham</a:t>
                      </a:r>
                      <a:endParaRPr sz="1200">
                        <a:solidFill>
                          <a:schemeClr val="dk2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Roboto Medium"/>
                        <a:buChar char="●"/>
                      </a:pPr>
                      <a:r>
                        <a:rPr lang="en-GB" sz="12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Rakshada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Co-Lead – Subham Maharana</a:t>
                      </a:r>
                      <a:endParaRPr b="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Monitoring, support, assistance</a:t>
                      </a:r>
                      <a:endParaRPr sz="1900">
                        <a:solidFill>
                          <a:schemeClr val="dk2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Cleaning Team:</a:t>
                      </a:r>
                      <a:endParaRPr b="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Roboto Medium"/>
                        <a:buChar char="●"/>
                      </a:pPr>
                      <a:r>
                        <a:rPr lang="en-GB" sz="12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Rakesh</a:t>
                      </a:r>
                      <a:endParaRPr sz="1200">
                        <a:solidFill>
                          <a:schemeClr val="dk2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Roboto Medium"/>
                        <a:buChar char="●"/>
                      </a:pPr>
                      <a:r>
                        <a:rPr lang="en-GB" sz="12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Sai Kiran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Presentation Team:</a:t>
                      </a:r>
                      <a:endParaRPr b="1" sz="12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Roboto Medium"/>
                        <a:buChar char="●"/>
                      </a:pPr>
                      <a:r>
                        <a:rPr lang="en-GB" sz="12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Rakshada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2839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311700" y="864300"/>
            <a:ext cx="8520600" cy="3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262624"/>
                </a:solidFill>
                <a:highlight>
                  <a:schemeClr val="lt1"/>
                </a:highlight>
              </a:rPr>
              <a:t>Project Success Metrics</a:t>
            </a: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 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262624"/>
              </a:buClr>
              <a:buSzPts val="1400"/>
              <a:buChar char="●"/>
            </a:pP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100% Target Achievement - All 27 variants scraped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4"/>
              </a:buClr>
              <a:buSzPts val="1400"/>
              <a:buChar char="●"/>
            </a:pP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100% Data Completeness - Zero missing values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4"/>
              </a:buClr>
              <a:buSzPts val="1400"/>
              <a:buChar char="●"/>
            </a:pP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100% Team Participation - All members contributed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4"/>
              </a:buClr>
              <a:buSzPts val="1400"/>
              <a:buChar char="●"/>
            </a:pP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On-Time Delivery - Completed in 4 days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4"/>
              </a:buClr>
              <a:buSzPts val="1400"/>
              <a:buChar char="●"/>
            </a:pP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Quality Documentation - Professional deliverables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262624"/>
                </a:solidFill>
                <a:highlight>
                  <a:schemeClr val="lt1"/>
                </a:highlight>
              </a:rPr>
              <a:t>What We Demonstrated</a:t>
            </a:r>
            <a:endParaRPr b="1"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262624"/>
              </a:buClr>
              <a:buSzPts val="1400"/>
              <a:buChar char="●"/>
            </a:pP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Modern web scraping with browser automation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4"/>
              </a:buClr>
              <a:buSzPts val="1400"/>
              <a:buChar char="●"/>
            </a:pP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Handling dynamic JavaScript content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4"/>
              </a:buClr>
              <a:buSzPts val="1400"/>
              <a:buChar char="●"/>
            </a:pP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Professional data engineering practices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4"/>
              </a:buClr>
              <a:buSzPts val="1400"/>
              <a:buChar char="●"/>
            </a:pP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Ethical data collection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62624"/>
              </a:buClr>
              <a:buSzPts val="1400"/>
              <a:buChar char="●"/>
            </a:pPr>
            <a:r>
              <a:rPr lang="en-GB" sz="1400">
                <a:solidFill>
                  <a:srgbClr val="262624"/>
                </a:solidFill>
                <a:highlight>
                  <a:schemeClr val="lt1"/>
                </a:highlight>
              </a:rPr>
              <a:t>Team-based development workflow</a:t>
            </a:r>
            <a:endParaRPr sz="14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500">
                <a:solidFill>
                  <a:srgbClr val="262624"/>
                </a:solidFill>
                <a:highlight>
                  <a:schemeClr val="lt1"/>
                </a:highlight>
              </a:rPr>
              <a:t>Team D delivered production-quality code and analysis-ready data</a:t>
            </a:r>
            <a:endParaRPr i="1" sz="1500">
              <a:solidFill>
                <a:srgbClr val="262624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b="1" sz="1300">
              <a:solidFill>
                <a:srgbClr val="26262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Team D – Honda Specification Scraping Project</a:t>
            </a:r>
            <a:endParaRPr b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Delivering clean data with clean code.</a:t>
            </a:r>
            <a:endParaRPr sz="25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